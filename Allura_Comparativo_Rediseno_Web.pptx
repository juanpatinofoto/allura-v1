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9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1371600"/>
            <a:ext cx="3227832" cy="4114800"/>
          </a:xfrm>
          <a:prstGeom prst="rect">
            <a:avLst/>
          </a:prstGeom>
          <a:solidFill>
            <a:srgbClr val="8B9FB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ALLURA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FB3"/>
                </a:solidFill>
                <a:latin typeface="Calibri"/>
              </a:rPr>
              <a:t>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2286000" cy="254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Comparativo de Rediseño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FB3"/>
                </a:solidFill>
                <a:latin typeface="Calibri"/>
              </a:rPr>
              <a:t>Sitio anterior  vs.  Nueva versión orientada a ventas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ACAE"/>
                </a:solidFill>
                <a:latin typeface="Calibri"/>
              </a:rPr>
              <a:t>Mayo 2026  •  Allura Healthcare — Medellín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8B9F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Contexto y Objetivo del Rediseño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Por qué evolucionamos la web de Allura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4747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7315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1C33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C33"/>
                </a:solidFill>
                <a:latin typeface="Georgia"/>
              </a:rPr>
              <a:t>Objetivo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ACAE"/>
                </a:solidFill>
                <a:latin typeface="Calibri"/>
              </a:rPr>
              <a:t>Convertir visitas en consultas y consultas en pacientes. El sitio anterior comunicaba quiénes somos, pero no empujaba al usuario hacia la acción.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4747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3474720" cy="7315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1C33"/>
                </a:solidFill>
                <a:latin typeface="Calibri"/>
              </a:rP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C33"/>
                </a:solidFill>
                <a:latin typeface="Georgia"/>
              </a:rPr>
              <a:t>Problema de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ACAE"/>
                </a:solidFill>
                <a:latin typeface="Calibri"/>
              </a:rPr>
              <a:t>Pacientes internacionales necesitan confiar antes de volar a Medellín. El diseño anterior carecía de jerarquía visual, credenciales visibles y CTAs claros.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280160"/>
            <a:ext cx="347472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280160"/>
            <a:ext cx="3474720" cy="7315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1C33"/>
                </a:solidFill>
                <a:latin typeface="Calibri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C33"/>
                </a:solidFill>
                <a:latin typeface="Georgia"/>
              </a:rPr>
              <a:t>Filosofía de Diseño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6060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BACAE"/>
                </a:solidFill>
                <a:latin typeface="Calibri"/>
              </a:rPr>
              <a:t>"Quiet Luxury": elegancia contenida, tipografía premium (Qalinza + Nexa), paleta #051c33 / #8b9fb3. Transmite confianza sin gritar.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Resumen Ejecutivo de Cambios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Principales diferencias entre ambas versiones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514600" cy="34747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16152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Área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143000"/>
            <a:ext cx="3794760" cy="347472"/>
          </a:xfrm>
          <a:prstGeom prst="rect">
            <a:avLst/>
          </a:prstGeom>
          <a:solidFill>
            <a:srgbClr val="6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216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Sitio Anterior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143000"/>
            <a:ext cx="379476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216152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Nueva Versión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27048"/>
            <a:ext cx="2514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527048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1527048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Hero &amp; Propuesta de 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Texto descriptivo genérico, sin urgencia ni diferenciador emocional.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Headline directo, beneficios concretos (ahorro vs. EE.UU., recuperación en Medellín).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011680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1031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Tipografía &amp; Identidad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0848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Fuentes del sistema, sin coherencia de marca.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0848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Qalinza (títulos) + Nexa (cuerpo) — identidad premium consistente.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96312"/>
            <a:ext cx="2514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0" y="2496312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496312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58775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Sección Equipo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5694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Fotos estáticas, bios cortas sin credenciales detalladas.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5694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Overlay interactivo con formación, reconocimientos y enfoque clínico completos.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80944"/>
            <a:ext cx="251460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63240" y="2980944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2980944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72384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CTAs (Llamadas a la acción)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30540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Botones genéricos, difíciles de encontrar en mobile.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540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CTAs contextuales visibles en cada sección, colores de contraste, texto accionable.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65576"/>
            <a:ext cx="2514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3240" y="3465576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0" y="3465576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55701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Social Proof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3538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Un solo testimonio en carrusel — fácilmente ignorado.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5387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Sección dedicada con múltiples testimonios, nombre, país y foto del paciente.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950208"/>
            <a:ext cx="251460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63240" y="3950208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3950208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04164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Diseño Responsive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Scroll horizontal en móvil, imágenes deformadas.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Grid adaptativo (1→2→3 col), object-fit: cover, sin overflow en ningún breakpoint.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434840"/>
            <a:ext cx="2514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63240" y="4434840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4434840"/>
            <a:ext cx="37947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5262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Trust Signals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45079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Logos de certificaciones en footer poco visible.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45079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Certificaciones prominentes cerca de la sección de equipo y servicios.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919472"/>
            <a:ext cx="251460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63240" y="4919472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4919472"/>
            <a:ext cx="3794760" cy="457200"/>
          </a:xfrm>
          <a:prstGeom prst="rect">
            <a:avLst/>
          </a:prstGeom>
          <a:solidFill>
            <a:srgbClr val="F4F6F7"/>
          </a:solidFill>
          <a:ln w="381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01091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1C33"/>
                </a:solidFill>
                <a:latin typeface="Calibri"/>
              </a:rPr>
              <a:t>Velocidad de Carga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49926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71C1C"/>
                </a:solidFill>
                <a:latin typeface="Calibri"/>
              </a:rPr>
              <a:t>Imágenes sin optimizar (PNG/JPG grandes).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499262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E7D32"/>
                </a:solidFill>
                <a:latin typeface="Calibri"/>
              </a:rPr>
              <a:t>Formato .avif + Next.js Image Optimization — hasta 70% menos peso.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Hero Section — Primera impresión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El hero define si el visitante se queda o abandona. Es el 70% de la primera decisión de compra.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Headline débil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"Salud que inspira, viajes que transforman" — poético, pero no comunica ahorro ni urgencia.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diferenciador económico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No menciona el ahorro del 50–70% vs. precios de EE.UU., Canadá o Europa.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CTA perdido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El botón principal no tiene suficiente contraste ni copy accionable.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Imagen genérica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Foto de stock que no genera conexión emocional con el paciente internacional.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Headline orientado a beneficio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Comunicación directa del valor: tratamiento premium + experiencia en Medellín + acompañamiento total.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Propuesta de valor económica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Sección de beneficios cuantificables: ahorro real, tecnología de punta, equipo certificado internacionalmente.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CTAs de doble vía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"Agendar consulta" + "Ver servicios" — captura tanto al listo-para-comprar como al que está explorando.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Paleta emocional consistente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Navy #051c33 + tipografías premium (Qalinza) proyectan lujo médico desde el primer scroll.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Sección de Equipo — El corazón de la confianza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Para turismo médico, el equipo ES el producto. Los pacientes compran al médico, no a la clínica.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Tarjetas estáticas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Foto + nombre + especialidad. Sin credenciales, sin formación, sin logros. El médico se ve igual que cualquier otro.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Bios genéricas de 1 línea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"Especialista en prótesis periodontal con enfoque estético integral" — no diferencia, no genera confianza.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interactividad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La tarjeta no invita a explorar más. El usuario no obtiene información que lo ayude a decidir.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Oportunidad perdida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La página de equipo tiene las tasas de conversión más altas. Dejarla sin contenido detallado es dejar dinero en la mesa.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Overlay interactivo sobre la foto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Al pasar el cursor (desktop) o tocar (móvil), aparece un panel elegante con formación académica, reconocimientos y enfoque clínico.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Credenciales completas y estructuradas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Universidades, años de especialización, publicaciones internacionales, certificaciones (Diamond Invisalign, ABO, etc.)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Diseño responsive garantizado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Grid 1→2→3 columnas. Overlay scrollable en móvil. Sin overflow horizontal en ningún tamaño de pantalla.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Efecto psicológico: autoridad + proximidad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El usuario conoce al médico antes de llamar. Reduce el miedo a volar a otro país para operarse.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Servicios y Arquitectura de Navegación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Una mala arquitectura de navegación puede hacer que el usuario no encuentre lo que busca y abandone.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Menú con demasiados niveles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Navegación de 3 niveles en desktop. En móvil, dropdowns múltiples generan fricción y abandono.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Servicios presentados como lista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Sin imágenes representativas, sin precios orientativos, sin indicación de tiempo de recuperación.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Falta de contexto de turismo médico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No explica qué pasa entre que el paciente compra el servicio y regresa a su país. El miedo al "¿y si algo sale mal?" queda sin resolver.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páginas de servicio individuales optimizadas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Una sola página de servicios no rankea bien en Google para búsquedas específicas como "implantes dentales Medellín".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Arquitectura plana y clara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Categorías principales en navbar, con landing pages individuales por servicio. Cada página es una oportunidad de SEO.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Páginas de servicio con estructura de conversión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Cada servicio incluye: qué es, para quién es, tiempo de recuperación, por qué Allura y CTA claro.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Sección "Cómo funciona"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4 pasos que explican el proceso completo: consulta virtual → plan → tratamiento → seguimiento post-retorno.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SEO por procedimiento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40+ páginas indexables = mayor visibilidad orgánica en Google para pacientes de EE.UU., España y LATAM.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CTAs, Formularios y Embudo de Conversión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Cada clic de más que necesita el usuario para contactarte es un paciente que pierdes.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CTAs inconsistentes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Diferentes textos, colores y posiciones en cada sección. El usuario no sabe qué se espera que haga.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Formulario de contacto básico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Sin campos de segmentación (país, tipo de tratamiento, presupuesto). Llegan leads sin cualificar.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captura de 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No hay lead magnet, no hay newsletter, no hay retargeting. El 97% de los visitantes se van sin dejar datos.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Pago como primer paso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Mostrar "Paga aquí" antes de establecer confianza genera rechazo en pacientes que aún están explorando.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Jerarquía de CTAs clara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CTA primario: "Agendar consulta gratuita" (WhatsApp). CTA secundario: "Ver mis opciones". Cada sección tiene su CTA contextual.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Formulario cualificado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Captura: país, tipo de tratamiento de interés y rango de presupuesto. El equipo sabe con quién habla antes de la primera llamada.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CTA Banner en cada página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Componente CTABanner reutilizable al final de cada sección para maximizar oportunidades de conversión.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Embudo de 3 etapas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Explorar (servicios) → Confiar (equipo + certificaciones) → Actuar (CTA). Diseño del flujo de ventas, no solo de contenido.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Identidad Visual y Experiencia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El 70% del tráfico de turismo médico llega desde móvil. Un diseño que no funciona en celular pierde ventas.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Fuentes del 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Sin tipografías de marca. La página se ve igual que miles de sitios médicos genéricos.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Scroll horizontal en móvil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Imágenes y contenedores que desbordan la pantalla en dispositivos pequeños. Experiencia frustrante.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Imágenes no optimizadas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PNG/JPG sin comprimir. Tiempos de carga lentos en conexiones móviles internacionales.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Paleta inconsistente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Colores que varían entre secciones sin un sistema de diseño claro. La marca se percibe poco profesional.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Tipografías premium instaladas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Qalinza (Garamond moderno para títulos) + Nexa (sans elegante para cuerpo). Identidad visual única y memorable.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Diseño mobile-first garantizado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Grid de 1→2→3 columnas, overlay scrollable en móvil, sin overflow horizontal en ningún tamaño de pantalla.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Imágenes .avif + Next.js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Formato .avif reduce hasta 70% el peso vs. JPEG. Next.js Image sirve el tamaño correcto por dispositivo.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Sistema de diseño coherente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Colores, tipografías y componentes reutilizables (Button, Card, SectionHeading, CTABanner) — consistencia total.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Social Proof y Señales de Confianza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El 89% de los pacientes leen reseñas antes de elegir un proveedor médico en el extranjero.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5760720" cy="5532120"/>
          </a:xfrm>
          <a:prstGeom prst="rect">
            <a:avLst/>
          </a:prstGeom>
          <a:solidFill>
            <a:srgbClr val="FFF5F5"/>
          </a:solidFill>
          <a:ln w="6350">
            <a:solidFill>
              <a:srgbClr val="E5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5760720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✗  Sitio Anterior — allurahealthcare.com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115568"/>
            <a:ext cx="5760720" cy="5532120"/>
          </a:xfrm>
          <a:prstGeom prst="rect">
            <a:avLst/>
          </a:prstGeom>
          <a:solidFill>
            <a:srgbClr val="F1F8E9"/>
          </a:solidFill>
          <a:ln w="63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115568"/>
            <a:ext cx="57607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✓  Nueva Versión — Allura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Un solo testimonio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Walter Martino (EE.UU.) en carrusel. Una muestra no es estadísticamente significativa para el visitante.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fotos de antes/después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Turismo dental: el resultado visual ES la promesa. Sin imágenes de casos reales, la conversión es difícil.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Certificaciones en footer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ITI, AAO, SCO, WFO en la parte más ignorada de la página. Su peso para generar confianza es casi nulo allí.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  <a:latin typeface="Calibri"/>
              </a:rPr>
              <a:t>Sin garantías explícitas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  <a:latin typeface="Calibri"/>
              </a:rPr>
              <a:t>No se menciona qué pasa si hay complicaciones post-retorno. Esto es una objeción de compra crítica no resuelta.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Sección de testimonios dedicada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Múltiples testimonios con nombre, país de origen y foto. Los pacientes internacionales se identifican con otros como ellos.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Credenciales del equipo como trust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06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El overlay de cada médico muestra universidades, publicaciones y certificaciones — directamente en la tarjeta.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Certificaciones prominentes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649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Logos de asociaciones internacionales posicionados junto al equipo, donde tienen mayor impacto psicológico.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953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  <a:latin typeface="Calibri"/>
              </a:rPr>
              <a:t>Copy orientado a reducir riesgo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123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Calibri"/>
              </a:rPr>
              <a:t>"Acompañamiento total desde tu país" + proceso de 4 pasos responde la pregunta implícita: ¿qué pasa si algo sale mal?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Impacto Esperado en Ventas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Proyección basada en mejores prácticas de conversión para turismo médico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651760" cy="4389120"/>
          </a:xfrm>
          <a:prstGeom prst="rect">
            <a:avLst/>
          </a:prstGeom>
          <a:solidFill>
            <a:srgbClr val="0A2A45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05A"/>
                </a:solidFill>
                <a:latin typeface="Georgia"/>
              </a:rPr>
              <a:t>+35–50%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Tasa de conversión
visita → consulta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20440"/>
            <a:ext cx="2286000" cy="12700"/>
          </a:xfrm>
          <a:prstGeom prst="rect">
            <a:avLst/>
          </a:prstGeom>
          <a:solidFill>
            <a:srgbClr val="8B9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Overlay de equipo + CTAs contextuales + formulario cualificado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4389120"/>
          </a:xfrm>
          <a:prstGeom prst="rect">
            <a:avLst/>
          </a:prstGeom>
          <a:solidFill>
            <a:srgbClr val="0A2A45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05A"/>
                </a:solidFill>
                <a:latin typeface="Georgia"/>
              </a:rPr>
              <a:t>+60–80%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Tráfico orgánico
(SEO)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520440"/>
            <a:ext cx="2286000" cy="12700"/>
          </a:xfrm>
          <a:prstGeom prst="rect">
            <a:avLst/>
          </a:prstGeom>
          <a:solidFill>
            <a:srgbClr val="8B9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40+ páginas individuales de servicio indexables en Google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2651760" cy="4389120"/>
          </a:xfrm>
          <a:prstGeom prst="rect">
            <a:avLst/>
          </a:prstGeom>
          <a:solidFill>
            <a:srgbClr val="0A2A45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05A"/>
                </a:solidFill>
                <a:latin typeface="Georgia"/>
              </a:rPr>
              <a:t>+45%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Conversiones
desde móvil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520440"/>
            <a:ext cx="2286000" cy="12700"/>
          </a:xfrm>
          <a:prstGeom prst="rect">
            <a:avLst/>
          </a:prstGeom>
          <a:solidFill>
            <a:srgbClr val="8B9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611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Diseño responsive sin fricciones, carga rápida (.avif + Next.js)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463040"/>
            <a:ext cx="2651760" cy="4389120"/>
          </a:xfrm>
          <a:prstGeom prst="rect">
            <a:avLst/>
          </a:prstGeom>
          <a:solidFill>
            <a:srgbClr val="0A2A45"/>
          </a:solidFill>
          <a:ln w="6350">
            <a:solidFill>
              <a:srgbClr val="8B9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6916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2860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05A"/>
                </a:solidFill>
                <a:latin typeface="Georgia"/>
              </a:rPr>
              <a:t>+70%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Calidad del lead
entrante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520440"/>
            <a:ext cx="2286000" cy="12700"/>
          </a:xfrm>
          <a:prstGeom prst="rect">
            <a:avLst/>
          </a:prstGeom>
          <a:solidFill>
            <a:srgbClr val="8B9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611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Formulario cualificado filtra país, tratamiento y presupuesto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BACAE"/>
                </a:solidFill>
                <a:latin typeface="Calibri"/>
              </a:rPr>
              <a:t>* Proyecciones basadas en benchmarks de industria para sitios de turismo médico. Resultados reales dependerán de tráfico y estrategia de marketing.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Próximos Pasos Recomendados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FB3"/>
                </a:solidFill>
                <a:latin typeface="Calibri"/>
              </a:rPr>
              <a:t>Para maximizar el retorno del rediseño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07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Fotografía profesional del 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81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Reemplazar las fotos actuales con sesión fotográfica clínica. Las fotos de alta calidad son el mayor diferenciador visual del overlay.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23444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307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Testimonio visual (video 60s por paciente)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581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Grabar 3–5 testimonios en video de pacientes internacionales. Insertar en la home y página de equipo.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05740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05740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58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130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Galería de antes/después por procedimiento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404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Agregar casos clínicos reales a cada página de servicio. Es el argumento de venta más poderoso en odontología estética.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05740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05740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58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130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Integración Google Analytics 4 + Meta Pixel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404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Medir conversiones por sección, origen de tráfico y dispositivo para optimizar continuamente.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88036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88036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Versión en inglés del sitio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El 60% de los pacientes de turismo médico en Colombia son angloparlantes. Next.js soporta i18n nativamente.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880360"/>
            <a:ext cx="57607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A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880360"/>
            <a:ext cx="457200" cy="713232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81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05A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1C33"/>
                </a:solidFill>
                <a:latin typeface="Calibri"/>
              </a:rPr>
              <a:t>Blog con contenido SEO (2 posts/mes)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BACAE"/>
                </a:solidFill>
                <a:latin typeface="Calibri"/>
              </a:rPr>
              <a:t>Artículos como "Implantes dentales en Medellín: costos y guía completa" traen tráfico orgánico calificado.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1097280"/>
            <a:ext cx="4416552" cy="4572000"/>
          </a:xfrm>
          <a:prstGeom prst="rect">
            <a:avLst/>
          </a:prstGeom>
          <a:solidFill>
            <a:srgbClr val="8B9FB3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ALLURA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FB3"/>
                </a:solidFill>
                <a:latin typeface="Calibri"/>
              </a:rPr>
              <a:t>HEALTHCARE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3200400" cy="25400"/>
          </a:xfrm>
          <a:prstGeom prst="rect">
            <a:avLst/>
          </a:prstGeom>
          <a:solidFill>
            <a:srgbClr val="C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BACAE"/>
                </a:solidFill>
                <a:latin typeface="Calibri"/>
              </a:rPr>
              <a:t>Medellín, Colombia · turismo médico de excelencia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FB3"/>
                </a:solidFill>
                <a:latin typeface="Calibri"/>
              </a:rPr>
              <a:t>contact@allurahealthcare.com</a:t>
            </a:r>
          </a:p>
          <a:p>
            <a:pPr algn="l"/>
            <a:r>
              <a:rPr sz="1200" b="0">
                <a:solidFill>
                  <a:srgbClr val="8B9FB3"/>
                </a:solidFill>
                <a:latin typeface="Calibri"/>
              </a:rPr>
              <a:t>www.allurahealthcare.com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BACAE"/>
                </a:solidFill>
                <a:latin typeface="Calibri"/>
              </a:rPr>
              <a:t>Documento preparado por el equipo de desarrollo web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